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12"/>
  </p:handoutMasterIdLst>
  <p:sldIdLst>
    <p:sldId id="256" r:id="rId2"/>
    <p:sldId id="257" r:id="rId3"/>
    <p:sldId id="274" r:id="rId4"/>
    <p:sldId id="273" r:id="rId5"/>
    <p:sldId id="276" r:id="rId6"/>
    <p:sldId id="277" r:id="rId7"/>
    <p:sldId id="275" r:id="rId8"/>
    <p:sldId id="279" r:id="rId9"/>
    <p:sldId id="278" r:id="rId10"/>
    <p:sldId id="272" r:id="rId11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8686" autoAdjust="0"/>
  </p:normalViewPr>
  <p:slideViewPr>
    <p:cSldViewPr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2808" y="4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F2287-BE75-4C79-8555-F97D9D581C51}" type="datetimeFigureOut">
              <a:rPr lang="hu-HU" smtClean="0"/>
              <a:t>2026. 07. 07.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5D0B9-C25F-4EDA-AE7C-46F05D1C993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9495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7225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4987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4515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0933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4145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3002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36549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0582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2010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4677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7304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P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3144" y="1772816"/>
            <a:ext cx="7931224" cy="4608512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cxnSp>
        <p:nvCxnSpPr>
          <p:cNvPr id="8" name="Egyenes összekötő 7"/>
          <p:cNvCxnSpPr/>
          <p:nvPr/>
        </p:nvCxnSpPr>
        <p:spPr>
          <a:xfrm>
            <a:off x="0" y="1124744"/>
            <a:ext cx="9144000" cy="0"/>
          </a:xfrm>
          <a:prstGeom prst="line">
            <a:avLst/>
          </a:prstGeom>
          <a:ln w="38100">
            <a:solidFill>
              <a:srgbClr val="2A6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ím 17"/>
          <p:cNvSpPr>
            <a:spLocks noGrp="1"/>
          </p:cNvSpPr>
          <p:nvPr>
            <p:ph type="title"/>
          </p:nvPr>
        </p:nvSpPr>
        <p:spPr>
          <a:xfrm>
            <a:off x="827584" y="274638"/>
            <a:ext cx="7067128" cy="850106"/>
          </a:xfrm>
        </p:spPr>
        <p:txBody>
          <a:bodyPr/>
          <a:lstStyle>
            <a:lvl1pPr>
              <a:defRPr b="1"/>
            </a:lvl1pPr>
          </a:lstStyle>
          <a:p>
            <a:r>
              <a:rPr lang="hu-HU" dirty="0"/>
              <a:t>Mintacím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16507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A522D-69D6-4439-878C-79A290758200}" type="datetimeFigureOut">
              <a:rPr lang="hu-HU" smtClean="0"/>
              <a:t>2026. 07. 07.</a:t>
            </a:fld>
            <a:endParaRPr lang="hu-H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3EC6C-0F2B-4627-94BB-327DF1B7433C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73778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26760" y="2188506"/>
            <a:ext cx="7772400" cy="792087"/>
          </a:xfrm>
        </p:spPr>
        <p:txBody>
          <a:bodyPr/>
          <a:lstStyle/>
          <a:p>
            <a:r>
              <a:rPr lang="ro-RO" sz="3200" dirty="0" err="1"/>
              <a:t>Diplomadolgozat</a:t>
            </a:r>
            <a:endParaRPr lang="hu-HU" sz="32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0212" y="3429000"/>
            <a:ext cx="6400800" cy="1152128"/>
          </a:xfrm>
        </p:spPr>
        <p:txBody>
          <a:bodyPr>
            <a:normAutofit fontScale="92500" lnSpcReduction="10000"/>
          </a:bodyPr>
          <a:lstStyle/>
          <a:p>
            <a:r>
              <a:rPr lang="ro-RO" sz="4000" dirty="0">
                <a:solidFill>
                  <a:schemeClr val="tx1"/>
                </a:solidFill>
              </a:rPr>
              <a:t>Lineáris algebrai problémák</a:t>
            </a:r>
          </a:p>
          <a:p>
            <a:r>
              <a:rPr lang="ro-RO" sz="4000" dirty="0"/>
              <a:t>számítogépes prezentálása</a:t>
            </a:r>
            <a:endParaRPr lang="hu-HU" sz="4000" dirty="0">
              <a:solidFill>
                <a:schemeClr val="tx1"/>
              </a:solidFill>
            </a:endParaRPr>
          </a:p>
        </p:txBody>
      </p:sp>
      <p:cxnSp>
        <p:nvCxnSpPr>
          <p:cNvPr id="10" name="Egyenes összekötő 9"/>
          <p:cNvCxnSpPr/>
          <p:nvPr/>
        </p:nvCxnSpPr>
        <p:spPr>
          <a:xfrm>
            <a:off x="0" y="1412776"/>
            <a:ext cx="9144000" cy="0"/>
          </a:xfrm>
          <a:prstGeom prst="line">
            <a:avLst/>
          </a:prstGeom>
          <a:ln w="38100">
            <a:solidFill>
              <a:srgbClr val="2A60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zövegdoboz 12"/>
          <p:cNvSpPr txBox="1"/>
          <p:nvPr/>
        </p:nvSpPr>
        <p:spPr>
          <a:xfrm>
            <a:off x="683568" y="260648"/>
            <a:ext cx="77155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b="1" dirty="0"/>
              <a:t>SAPIENTIA ERDÉLYI MAGYAR TUDOMÁNYEGYETEM</a:t>
            </a:r>
            <a:endParaRPr lang="en-US" sz="2000" dirty="0"/>
          </a:p>
          <a:p>
            <a:pPr algn="ctr"/>
            <a:r>
              <a:rPr lang="ro-RO" sz="2000" b="1" dirty="0"/>
              <a:t>CSÍKSZEREDAI KAR</a:t>
            </a:r>
            <a:endParaRPr lang="en-US" sz="2000" dirty="0"/>
          </a:p>
          <a:p>
            <a:pPr algn="ctr"/>
            <a:r>
              <a:rPr lang="ro-RO" sz="2000" b="1" dirty="0"/>
              <a:t>GAZDASÁGI INFORMATIKA SZAK</a:t>
            </a:r>
            <a:endParaRPr lang="en-US" sz="2000" dirty="0"/>
          </a:p>
        </p:txBody>
      </p:sp>
      <p:sp>
        <p:nvSpPr>
          <p:cNvPr id="14" name="Szövegdoboz 13"/>
          <p:cNvSpPr txBox="1"/>
          <p:nvPr/>
        </p:nvSpPr>
        <p:spPr>
          <a:xfrm>
            <a:off x="574669" y="5372084"/>
            <a:ext cx="2339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err="1"/>
              <a:t>Témavezető</a:t>
            </a:r>
            <a:r>
              <a:rPr lang="ro-RO" dirty="0"/>
              <a:t>:</a:t>
            </a:r>
          </a:p>
          <a:p>
            <a:r>
              <a:rPr lang="hu-HU" b="1" dirty="0"/>
              <a:t>Dr. Garda-Mátyás Edit,</a:t>
            </a:r>
          </a:p>
          <a:p>
            <a:r>
              <a:rPr lang="hu-HU" b="1" dirty="0"/>
              <a:t>egyetemi adjunktus</a:t>
            </a:r>
          </a:p>
        </p:txBody>
      </p:sp>
      <p:sp>
        <p:nvSpPr>
          <p:cNvPr id="15" name="Szövegdoboz 14"/>
          <p:cNvSpPr txBox="1"/>
          <p:nvPr/>
        </p:nvSpPr>
        <p:spPr>
          <a:xfrm>
            <a:off x="6156176" y="5372083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dirty="0"/>
              <a:t>Végzős hallgató:</a:t>
            </a:r>
          </a:p>
          <a:p>
            <a:pPr algn="r"/>
            <a:r>
              <a:rPr lang="hu-HU" b="1" dirty="0"/>
              <a:t>Farkas Szabolcs</a:t>
            </a:r>
          </a:p>
        </p:txBody>
      </p:sp>
    </p:spTree>
    <p:extLst>
      <p:ext uri="{BB962C8B-B14F-4D97-AF65-F5344CB8AC3E}">
        <p14:creationId xmlns:p14="http://schemas.microsoft.com/office/powerpoint/2010/main" val="7953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talom helye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Tanulók, tanárok kihívásai: elmélet, gyakorlat</a:t>
            </a:r>
          </a:p>
          <a:p>
            <a:r>
              <a:rPr lang="ro-RO" dirty="0"/>
              <a:t>Motiváció: a technológia fejlődése</a:t>
            </a:r>
          </a:p>
          <a:p>
            <a:r>
              <a:rPr lang="ro-RO" dirty="0"/>
              <a:t>Cél: prezentálhatóság egyszerűsítése és interaktívabb tanulás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b="1" dirty="0"/>
              <a:t>A probléma:</a:t>
            </a:r>
          </a:p>
          <a:p>
            <a:endParaRPr lang="hu-HU" dirty="0"/>
          </a:p>
          <a:p>
            <a:r>
              <a:rPr lang="hu-HU" dirty="0"/>
              <a:t>Lassú számolás </a:t>
            </a:r>
          </a:p>
          <a:p>
            <a:r>
              <a:rPr lang="hu-HU" dirty="0"/>
              <a:t>Interaktivitás hiánya </a:t>
            </a:r>
            <a:r>
              <a:rPr lang="en-US" dirty="0"/>
              <a:t>→</a:t>
            </a:r>
            <a:r>
              <a:rPr lang="hu-HU" dirty="0"/>
              <a:t> nehezebb megértés</a:t>
            </a:r>
          </a:p>
          <a:p>
            <a:r>
              <a:rPr lang="hu-HU" dirty="0"/>
              <a:t>Technológia nincs kihasználva</a:t>
            </a:r>
          </a:p>
        </p:txBody>
      </p:sp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Bevezető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8735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Megfelelő elméleti ismeretek</a:t>
            </a:r>
          </a:p>
          <a:p>
            <a:r>
              <a:rPr lang="hu-HU" dirty="0"/>
              <a:t>Könnyen kezelhető felület</a:t>
            </a:r>
          </a:p>
          <a:p>
            <a:r>
              <a:rPr lang="hu-HU" dirty="0"/>
              <a:t>Diagrammok használata ahol lehetséges</a:t>
            </a:r>
          </a:p>
          <a:p>
            <a:r>
              <a:rPr lang="hu-HU" dirty="0"/>
              <a:t>Egy jól kitervezett struktúra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Probléma megoldása</a:t>
            </a:r>
          </a:p>
        </p:txBody>
      </p:sp>
    </p:spTree>
    <p:extLst>
      <p:ext uri="{BB962C8B-B14F-4D97-AF65-F5344CB8AC3E}">
        <p14:creationId xmlns:p14="http://schemas.microsoft.com/office/powerpoint/2010/main" val="186172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800" dirty="0"/>
              <a:t>Python</a:t>
            </a:r>
          </a:p>
          <a:p>
            <a:pPr lvl="1"/>
            <a:r>
              <a:rPr lang="hu-HU" sz="2400" dirty="0" err="1"/>
              <a:t>Numpy</a:t>
            </a:r>
            <a:r>
              <a:rPr lang="en-US" sz="2400" dirty="0"/>
              <a:t>: </a:t>
            </a:r>
            <a:r>
              <a:rPr lang="en-US" sz="2400" dirty="0" err="1"/>
              <a:t>matematikai</a:t>
            </a:r>
            <a:r>
              <a:rPr lang="en-US" sz="2400" dirty="0"/>
              <a:t> m</a:t>
            </a:r>
            <a:r>
              <a:rPr lang="hu-HU" sz="2400" dirty="0" err="1"/>
              <a:t>űveletek</a:t>
            </a:r>
            <a:endParaRPr lang="hu-HU" sz="2400" dirty="0"/>
          </a:p>
          <a:p>
            <a:pPr lvl="1"/>
            <a:r>
              <a:rPr lang="hu-HU" sz="2400" dirty="0" err="1"/>
              <a:t>Scipy</a:t>
            </a:r>
            <a:r>
              <a:rPr lang="hu-HU" sz="2400" dirty="0"/>
              <a:t>: lineáris programozás</a:t>
            </a:r>
          </a:p>
          <a:p>
            <a:pPr lvl="1"/>
            <a:r>
              <a:rPr lang="hu-HU" sz="2400" dirty="0" err="1"/>
              <a:t>Tkinter</a:t>
            </a:r>
            <a:r>
              <a:rPr lang="hu-HU" sz="2400" dirty="0"/>
              <a:t>: ablakos alkalmazás (GUI)</a:t>
            </a:r>
          </a:p>
          <a:p>
            <a:pPr lvl="1"/>
            <a:r>
              <a:rPr lang="hu-HU" sz="2400" dirty="0" err="1"/>
              <a:t>Matplotlib</a:t>
            </a:r>
            <a:r>
              <a:rPr lang="hu-HU" sz="2400" dirty="0"/>
              <a:t>: grafikonok</a:t>
            </a:r>
          </a:p>
          <a:p>
            <a:pPr lvl="1"/>
            <a:r>
              <a:rPr lang="hu-HU" sz="2400" dirty="0"/>
              <a:t>Random: random értékek generálása</a:t>
            </a:r>
          </a:p>
          <a:p>
            <a:pPr lvl="1"/>
            <a:r>
              <a:rPr lang="hu-HU" sz="2400" dirty="0" err="1"/>
              <a:t>Importlib</a:t>
            </a:r>
            <a:r>
              <a:rPr lang="hu-HU" sz="2400" dirty="0"/>
              <a:t>: dinamikus modul importálása</a:t>
            </a:r>
          </a:p>
          <a:p>
            <a:pPr lvl="1"/>
            <a:r>
              <a:rPr lang="hu-HU" sz="2400" dirty="0" err="1"/>
              <a:t>Pathlib</a:t>
            </a:r>
            <a:r>
              <a:rPr lang="hu-HU" sz="2400" dirty="0"/>
              <a:t>: elérési útvonal megszerzése</a:t>
            </a:r>
          </a:p>
          <a:p>
            <a:pPr lvl="1"/>
            <a:r>
              <a:rPr lang="hu-HU" sz="2400" dirty="0"/>
              <a:t>PIL: Digitális képfeldolgozás</a:t>
            </a:r>
          </a:p>
          <a:p>
            <a:endParaRPr lang="hu-H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Felhasznált technológiák</a:t>
            </a:r>
          </a:p>
        </p:txBody>
      </p:sp>
    </p:spTree>
    <p:extLst>
      <p:ext uri="{BB962C8B-B14F-4D97-AF65-F5344CB8AC3E}">
        <p14:creationId xmlns:p14="http://schemas.microsoft.com/office/powerpoint/2010/main" val="277263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Saját fejlesztésű, MVC tervezési minta alapján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Architektúra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72A9B2E-AEC8-A497-AD16-CB144497E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3212976"/>
            <a:ext cx="2907191" cy="257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Ind</a:t>
            </a:r>
            <a:r>
              <a:rPr lang="hu-HU" sz="2800" dirty="0" err="1"/>
              <a:t>ítás</a:t>
            </a:r>
            <a:r>
              <a:rPr lang="hu-HU" sz="2800" dirty="0"/>
              <a:t> </a:t>
            </a:r>
            <a:r>
              <a:rPr lang="en-US" sz="2800" dirty="0"/>
              <a:t>→ </a:t>
            </a:r>
            <a:r>
              <a:rPr lang="hu-HU" sz="2800" dirty="0"/>
              <a:t>a</a:t>
            </a:r>
            <a:r>
              <a:rPr lang="en-US" sz="2800" dirty="0" err="1"/>
              <a:t>pplicationController</a:t>
            </a:r>
            <a:endParaRPr lang="en-US" sz="2800" dirty="0"/>
          </a:p>
          <a:p>
            <a:pPr lvl="1"/>
            <a:r>
              <a:rPr lang="en-US" sz="2000" dirty="0"/>
              <a:t>Root</a:t>
            </a:r>
            <a:r>
              <a:rPr lang="hu-HU" sz="2000" dirty="0"/>
              <a:t>, fő </a:t>
            </a:r>
            <a:r>
              <a:rPr lang="hu-HU" sz="2000" dirty="0" err="1"/>
              <a:t>container</a:t>
            </a:r>
            <a:r>
              <a:rPr lang="hu-HU" sz="2000" dirty="0"/>
              <a:t>, </a:t>
            </a:r>
            <a:r>
              <a:rPr lang="hu-HU" sz="2000" dirty="0" err="1"/>
              <a:t>screenController</a:t>
            </a:r>
            <a:r>
              <a:rPr lang="hu-HU" sz="2000" dirty="0"/>
              <a:t> létrehozása</a:t>
            </a:r>
          </a:p>
          <a:p>
            <a:pPr lvl="1"/>
            <a:r>
              <a:rPr lang="hu-HU" sz="2000" dirty="0"/>
              <a:t>Ablakok dinamikus importálása</a:t>
            </a:r>
          </a:p>
          <a:p>
            <a:r>
              <a:rPr lang="hu-HU" sz="2800" dirty="0" err="1"/>
              <a:t>screenController</a:t>
            </a:r>
            <a:endParaRPr lang="hu-HU" sz="2800" dirty="0"/>
          </a:p>
          <a:p>
            <a:pPr lvl="1"/>
            <a:r>
              <a:rPr lang="hu-HU" sz="2000" dirty="0"/>
              <a:t>Ablakok mentése gyors eléréshez</a:t>
            </a:r>
          </a:p>
          <a:p>
            <a:pPr lvl="1"/>
            <a:r>
              <a:rPr lang="hu-HU" sz="2000" dirty="0"/>
              <a:t>Ablakok cserélése</a:t>
            </a:r>
          </a:p>
          <a:p>
            <a:r>
              <a:rPr lang="en-US" sz="2800" dirty="0" err="1"/>
              <a:t>solutionController</a:t>
            </a:r>
            <a:endParaRPr lang="en-US" sz="2800" dirty="0"/>
          </a:p>
          <a:p>
            <a:pPr lvl="1"/>
            <a:r>
              <a:rPr lang="en-US" sz="2000" dirty="0" err="1"/>
              <a:t>Megold</a:t>
            </a:r>
            <a:r>
              <a:rPr lang="hu-HU" sz="2000" dirty="0"/>
              <a:t>ás eldöntése </a:t>
            </a:r>
            <a:r>
              <a:rPr lang="en-US" sz="2000" dirty="0"/>
              <a:t>→ Models</a:t>
            </a:r>
            <a:endParaRPr lang="hu-HU" sz="2000" dirty="0"/>
          </a:p>
          <a:p>
            <a:pPr lvl="1"/>
            <a:endParaRPr lang="hu-H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rendszer működése</a:t>
            </a:r>
          </a:p>
        </p:txBody>
      </p:sp>
    </p:spTree>
    <p:extLst>
      <p:ext uri="{BB962C8B-B14F-4D97-AF65-F5344CB8AC3E}">
        <p14:creationId xmlns:p14="http://schemas.microsoft.com/office/powerpoint/2010/main" val="2013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DD370C74-B07F-8438-D2D4-4C3C428285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556792"/>
            <a:ext cx="4491048" cy="280831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bemutatása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635E3E99-7F13-3D3C-A9B1-95E4CFFBC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556792"/>
            <a:ext cx="3603545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430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Tov</a:t>
            </a:r>
            <a:r>
              <a:rPr lang="hu-HU" dirty="0" err="1"/>
              <a:t>ábbi</a:t>
            </a:r>
            <a:r>
              <a:rPr lang="hu-HU" dirty="0"/>
              <a:t> fejlesztési lehetőségek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2071C5D-1248-3244-0953-3C71E3779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Többnyelvűség</a:t>
            </a:r>
          </a:p>
          <a:p>
            <a:r>
              <a:rPr lang="hu-HU" dirty="0"/>
              <a:t>Weboldal</a:t>
            </a:r>
          </a:p>
          <a:p>
            <a:r>
              <a:rPr lang="hu-HU" dirty="0"/>
              <a:t>Példatár bővítése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27718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példák interaktívak</a:t>
            </a:r>
          </a:p>
          <a:p>
            <a:r>
              <a:rPr lang="hu-HU" dirty="0"/>
              <a:t>Az egyszerű kezelőfelület elősegíti a lényeg megértését</a:t>
            </a:r>
          </a:p>
          <a:p>
            <a:r>
              <a:rPr lang="hu-HU" dirty="0"/>
              <a:t>A megoldások pontosak és gyorsan kiszámíthatóak</a:t>
            </a:r>
          </a:p>
          <a:p>
            <a:r>
              <a:rPr lang="hu-HU" dirty="0"/>
              <a:t>A random generált értékek segítenek az elmélet ismerete nélkül is</a:t>
            </a:r>
          </a:p>
          <a:p>
            <a:r>
              <a:rPr lang="hu-HU" dirty="0"/>
              <a:t>A rendszer architektúra kiválóan bővíthető és karbantartható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Következtetések</a:t>
            </a:r>
          </a:p>
        </p:txBody>
      </p:sp>
    </p:spTree>
    <p:extLst>
      <p:ext uri="{BB962C8B-B14F-4D97-AF65-F5344CB8AC3E}">
        <p14:creationId xmlns:p14="http://schemas.microsoft.com/office/powerpoint/2010/main" val="71828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endParaRPr lang="hu-HU" sz="3600" dirty="0"/>
          </a:p>
          <a:p>
            <a:pPr marL="0" indent="0">
              <a:buNone/>
            </a:pPr>
            <a:endParaRPr lang="hu-HU" sz="3600" dirty="0"/>
          </a:p>
          <a:p>
            <a:pPr marL="0" indent="0" algn="ctr">
              <a:buNone/>
            </a:pPr>
            <a:r>
              <a:rPr lang="hu-HU" sz="3600" dirty="0"/>
              <a:t>KÖSZÖNÖM A FIGYELMET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8957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828</TotalTime>
  <Words>206</Words>
  <Application>Microsoft Office PowerPoint</Application>
  <PresentationFormat>Diavetítés a képernyőre (4:3 oldalarány)</PresentationFormat>
  <Paragraphs>62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Diplomadolgozat</vt:lpstr>
      <vt:lpstr>Bevezető</vt:lpstr>
      <vt:lpstr>Probléma megoldása</vt:lpstr>
      <vt:lpstr>Felhasznált technológiák</vt:lpstr>
      <vt:lpstr>Architektúra</vt:lpstr>
      <vt:lpstr>A rendszer működése</vt:lpstr>
      <vt:lpstr>Alkalmazás bemutatása</vt:lpstr>
      <vt:lpstr>További fejlesztési lehetőségek</vt:lpstr>
      <vt:lpstr>Következtetések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János Csongor</dc:creator>
  <cp:lastModifiedBy>Család Farkas</cp:lastModifiedBy>
  <cp:revision>57</cp:revision>
  <dcterms:created xsi:type="dcterms:W3CDTF">2013-06-30T14:50:23Z</dcterms:created>
  <dcterms:modified xsi:type="dcterms:W3CDTF">2026-07-07T20:04:09Z</dcterms:modified>
</cp:coreProperties>
</file>